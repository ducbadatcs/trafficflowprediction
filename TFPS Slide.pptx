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0iZvvRRFPu7gNEAbFmjUsGC/4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9BA6C8-B480-40F9-BF06-E9F6647144A8}">
  <a:tblStyle styleId="{649BA6C8-B480-40F9-BF06-E9F664714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237bd83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237bd83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a03e7e3f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a03e7e3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a03e7e3f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a03e7e3f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37bd831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237bd83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37bd83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237bd83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9237bd831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9237bd83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a03e7e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a03e7e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a03e7e3f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a03e7e3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237bd83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237bd83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237bd83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237bd83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Traffic Flow Prediction System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Hoàng Minh Đức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Nguyễn Hoàng Tuấn Kiệt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237bd831_0_52"/>
          <p:cNvSpPr txBox="1"/>
          <p:nvPr>
            <p:ph type="title"/>
          </p:nvPr>
        </p:nvSpPr>
        <p:spPr>
          <a:xfrm>
            <a:off x="838200" y="365125"/>
            <a:ext cx="10515600" cy="88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Page</a:t>
            </a:r>
            <a:endParaRPr/>
          </a:p>
        </p:txBody>
      </p:sp>
      <p:pic>
        <p:nvPicPr>
          <p:cNvPr id="91" name="Google Shape;91;g3a9237bd831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6588" y="1553100"/>
            <a:ext cx="5658824" cy="49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Traffic Flow?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Traffic flow Prediction is crucial for: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Traffic planning in navigation apps such as Google, which helps urban planning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Route planning, for navigation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Public transport planning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Logistics and Delivery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and methodology		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process, we are using the Boroondara 2006 data to train a model that will predict the traffic flow in various sites.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achieve this, first we process the data to result in a matrix. This matrix contains the Flow Information: every row is a location, every column is a timestamp.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a03e7e3f_2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</a:t>
            </a:r>
            <a:endParaRPr/>
          </a:p>
        </p:txBody>
      </p:sp>
      <p:sp>
        <p:nvSpPr>
          <p:cNvPr id="109" name="Google Shape;109;g3a6a03e7e3f_2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data in this process include: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Sensor SCATS region number, Road names, Latitude and Longitude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Actual flow data in 15-minute intervals from Oct 1 2006 to Oct 31 2006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Some various categorical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a03e7e3f_2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To process the data, first We seperated all of the sensors using an Identifier; a combination of the HF Vicroads Internal value and the SCATS region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We transform the dataset to include other data via-identifier (lat, long, flow,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We flatten the flow so it becomes a single row with 15-minute sequential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 order to help create windows for later, we transpose the dataset.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will use a time-series LSTM Model approach to solve this problem. </a:t>
            </a:r>
            <a:endParaRPr/>
          </a:p>
        </p:txBody>
      </p:sp>
      <p:sp>
        <p:nvSpPr>
          <p:cNvPr id="115" name="Google Shape;115;g3a6a03e7e3f_2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	and Model approach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after processing</a:t>
            </a:r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936" y="2075399"/>
            <a:ext cx="10234124" cy="35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237bd831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Windows</a:t>
            </a:r>
            <a:endParaRPr/>
          </a:p>
        </p:txBody>
      </p:sp>
      <p:sp>
        <p:nvSpPr>
          <p:cNvPr id="127" name="Google Shape;127;g3a9237bd831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After having the data, we create time-series windows. Each window is 1 week long (672 15-minute intervals)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We set the horizon=24 to predict 24 15-minute intervals (5 hours) ahead.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We create two window arrays: X for all values but last HORIZON steps, y for all next HORIZON steps. X is split into X_train, X_val, X_test respectively, as well as y_train, y_val, y_test for 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 approaches</a:t>
            </a:r>
            <a:endParaRPr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train multiple-location LSTM and GRU models to predict the data over all of the locations. 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approach allows locations that are close geographically to be able to learn pattern from others.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237bd831_0_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Architecture - LSTM</a:t>
            </a:r>
            <a:endParaRPr/>
          </a:p>
        </p:txBody>
      </p:sp>
      <p:sp>
        <p:nvSpPr>
          <p:cNvPr id="139" name="Google Shape;139;g3a9237bd831_0_4"/>
          <p:cNvSpPr txBox="1"/>
          <p:nvPr>
            <p:ph idx="1" type="body"/>
          </p:nvPr>
        </p:nvSpPr>
        <p:spPr>
          <a:xfrm>
            <a:off x="839800" y="2057400"/>
            <a:ext cx="3932100" cy="44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LSTM model has the following layers that follow an encoder-decoder architecture: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Input: receive input (not shown in plot)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First LSTM layer: Process the sequence and compresses it to a 256-dimensional context vector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First Dropout: Regularization, zeros out 20% of input to not overfit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RepeatVector: Repeat the context vector 24 times for the decoder to use as initial input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Second LSTM: Takes the repeated context vector and processes the information required to predict the time step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Second dropout: similar regularization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TimeDistributed: Convert hidden states to final </a:t>
            </a:r>
            <a:r>
              <a:rPr lang="en-US"/>
              <a:t>predictions</a:t>
            </a:r>
            <a:r>
              <a:rPr lang="en-US"/>
              <a:t> </a:t>
            </a:r>
            <a:endParaRPr/>
          </a:p>
        </p:txBody>
      </p:sp>
      <p:pic>
        <p:nvPicPr>
          <p:cNvPr id="140" name="Google Shape;140;g3a9237bd831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700" y="341375"/>
            <a:ext cx="3739475" cy="617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237bd831_0_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Architecture - GRU</a:t>
            </a:r>
            <a:endParaRPr/>
          </a:p>
        </p:txBody>
      </p:sp>
      <p:sp>
        <p:nvSpPr>
          <p:cNvPr id="146" name="Google Shape;146;g3a9237bd831_0_26"/>
          <p:cNvSpPr txBox="1"/>
          <p:nvPr>
            <p:ph idx="1" type="body"/>
          </p:nvPr>
        </p:nvSpPr>
        <p:spPr>
          <a:xfrm>
            <a:off x="839800" y="2057400"/>
            <a:ext cx="3932100" cy="44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GRU model has a similar architecture to the LSTM model, with the LSTM layers replaced by the GRU layers due to their similar functionality.</a:t>
            </a:r>
            <a:endParaRPr/>
          </a:p>
        </p:txBody>
      </p:sp>
      <p:pic>
        <p:nvPicPr>
          <p:cNvPr id="147" name="Google Shape;147;g3a9237bd831_0_26"/>
          <p:cNvPicPr preferRelativeResize="0"/>
          <p:nvPr/>
        </p:nvPicPr>
        <p:blipFill rotWithShape="1">
          <a:blip r:embed="rId3">
            <a:alphaModFix/>
          </a:blip>
          <a:srcRect b="0" l="19" r="19" t="0"/>
          <a:stretch/>
        </p:blipFill>
        <p:spPr>
          <a:xfrm>
            <a:off x="6123700" y="341375"/>
            <a:ext cx="3738087" cy="617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6a03e7e3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</a:t>
            </a:r>
            <a:endParaRPr/>
          </a:p>
        </p:txBody>
      </p:sp>
      <p:sp>
        <p:nvSpPr>
          <p:cNvPr id="153" name="Google Shape;153;g3a6a03e7e3f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We split the data into groups of train/val/test with ratios 70-15-15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Before training, we normalize the data for the neural network using a Standard Scaler. (zero mean, unit variance).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Both models use AdamW as their optimizer, as well as having EarlyStopping (stop training when loss doesn’t change much) and ReduceLROnPlateau (reduce learning rate to keep training) callbacks.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Models are trained on normalized data. Therefore, predictions are normalized, and a </a:t>
            </a:r>
            <a:r>
              <a:rPr lang="en-US"/>
              <a:t>denormalization</a:t>
            </a:r>
            <a:r>
              <a:rPr lang="en-US"/>
              <a:t> is required to obtain real values.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a03e7e3f_2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Prediction results</a:t>
            </a:r>
            <a:endParaRPr/>
          </a:p>
        </p:txBody>
      </p:sp>
      <p:graphicFrame>
        <p:nvGraphicFramePr>
          <p:cNvPr id="159" name="Google Shape;159;g3a6a03e7e3f_2_11"/>
          <p:cNvGraphicFramePr/>
          <p:nvPr/>
        </p:nvGraphicFramePr>
        <p:xfrm>
          <a:off x="952500" y="24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{649BA6C8-B480-40F9-BF06-E9F6647144A8}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Normalized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Denormalized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0.394569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0.356201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34.609779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31.244328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0.504611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0.406004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3882.469204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3123.785721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RMSE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0.710360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0.637184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62.309463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55.890838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R2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0.448813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0.556522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0.448813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0.556522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9237bd831_0_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UI</a:t>
            </a:r>
            <a:endParaRPr/>
          </a:p>
        </p:txBody>
      </p:sp>
      <p:pic>
        <p:nvPicPr>
          <p:cNvPr id="165" name="Google Shape;165;g3a9237bd831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225" y="1690825"/>
            <a:ext cx="9455549" cy="467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Limitations and Future work</a:t>
            </a:r>
            <a:endParaRPr/>
          </a:p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 accuracy. The MAE and RMSE is currently high, which we will mitigate using hyperparameter tuning, as well as discover other models.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Needed routing future for GUI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Adapt to different datasets.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9237bd831_0_4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Thanks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2025-11-20T01:57:31Z</dcterms:created>
  <dc:creator>Duc Hoang</dc:creator>
</cp:coreProperties>
</file>